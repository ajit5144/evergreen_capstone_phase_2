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019" r:id="rId2"/>
    <p:sldId id="6020" r:id="rId3"/>
    <p:sldId id="6021" r:id="rId4"/>
    <p:sldId id="6022" r:id="rId5"/>
    <p:sldId id="6023" r:id="rId6"/>
    <p:sldId id="6024" r:id="rId7"/>
    <p:sldId id="6026" r:id="rId8"/>
    <p:sldId id="6030" r:id="rId9"/>
    <p:sldId id="60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CA171-C94E-4DD8-9129-C0ABF2B62DDC}" v="2" dt="2026-09-01T23:44:13.569"/>
    <p1510:client id="{8C13FEBE-CAF2-43D2-B071-42BCC66535A4}" v="19" dt="2026-09-01T23:40:25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u, Ajit Ranjan" userId="c3eb4cac-a7dd-4914-a958-2989a9f8b92f" providerId="ADAL" clId="{F06A9C37-2D74-45CB-B54D-6D5A277E31EA}"/>
    <pc:docChg chg="undo custSel addSld delSld modSld sldOrd modMainMaster">
      <pc:chgData name="Sahu, Ajit Ranjan" userId="c3eb4cac-a7dd-4914-a958-2989a9f8b92f" providerId="ADAL" clId="{F06A9C37-2D74-45CB-B54D-6D5A277E31EA}" dt="2026-09-02T15:59:37.032" v="999" actId="14100"/>
      <pc:docMkLst>
        <pc:docMk/>
      </pc:docMkLst>
      <pc:sldChg chg="modSp mod">
        <pc:chgData name="Sahu, Ajit Ranjan" userId="c3eb4cac-a7dd-4914-a958-2989a9f8b92f" providerId="ADAL" clId="{F06A9C37-2D74-45CB-B54D-6D5A277E31EA}" dt="2026-09-01T23:21:35.339" v="741" actId="20577"/>
        <pc:sldMkLst>
          <pc:docMk/>
          <pc:sldMk cId="3871798507" sldId="6019"/>
        </pc:sldMkLst>
        <pc:spChg chg="mod">
          <ac:chgData name="Sahu, Ajit Ranjan" userId="c3eb4cac-a7dd-4914-a958-2989a9f8b92f" providerId="ADAL" clId="{F06A9C37-2D74-45CB-B54D-6D5A277E31EA}" dt="2026-09-01T23:21:35.339" v="741" actId="20577"/>
          <ac:spMkLst>
            <pc:docMk/>
            <pc:sldMk cId="3871798507" sldId="6019"/>
            <ac:spMk id="2" creationId="{3C87E718-87DF-4BA8-8071-FB37CA6CE3C8}"/>
          </ac:spMkLst>
        </pc:spChg>
      </pc:sldChg>
      <pc:sldChg chg="modSp mod">
        <pc:chgData name="Sahu, Ajit Ranjan" userId="c3eb4cac-a7dd-4914-a958-2989a9f8b92f" providerId="ADAL" clId="{F06A9C37-2D74-45CB-B54D-6D5A277E31EA}" dt="2026-09-01T23:26:32.892" v="763" actId="5793"/>
        <pc:sldMkLst>
          <pc:docMk/>
          <pc:sldMk cId="2943148101" sldId="6020"/>
        </pc:sldMkLst>
        <pc:spChg chg="mod">
          <ac:chgData name="Sahu, Ajit Ranjan" userId="c3eb4cac-a7dd-4914-a958-2989a9f8b92f" providerId="ADAL" clId="{F06A9C37-2D74-45CB-B54D-6D5A277E31EA}" dt="2026-09-01T23:26:32.892" v="763" actId="5793"/>
          <ac:spMkLst>
            <pc:docMk/>
            <pc:sldMk cId="2943148101" sldId="6020"/>
            <ac:spMk id="6" creationId="{E05F59D0-B306-584E-04E6-58D3C8F92676}"/>
          </ac:spMkLst>
        </pc:spChg>
        <pc:spChg chg="mod">
          <ac:chgData name="Sahu, Ajit Ranjan" userId="c3eb4cac-a7dd-4914-a958-2989a9f8b92f" providerId="ADAL" clId="{F06A9C37-2D74-45CB-B54D-6D5A277E31EA}" dt="2026-09-01T23:26:22.529" v="762" actId="20577"/>
          <ac:spMkLst>
            <pc:docMk/>
            <pc:sldMk cId="2943148101" sldId="6020"/>
            <ac:spMk id="11" creationId="{76E3BEC6-FAF2-28F8-5A94-58D11633FD43}"/>
          </ac:spMkLst>
        </pc:spChg>
      </pc:sldChg>
      <pc:sldChg chg="modSp mod">
        <pc:chgData name="Sahu, Ajit Ranjan" userId="c3eb4cac-a7dd-4914-a958-2989a9f8b92f" providerId="ADAL" clId="{F06A9C37-2D74-45CB-B54D-6D5A277E31EA}" dt="2026-09-01T23:29:21.484" v="801" actId="1076"/>
        <pc:sldMkLst>
          <pc:docMk/>
          <pc:sldMk cId="4221270114" sldId="6021"/>
        </pc:sldMkLst>
        <pc:spChg chg="mod">
          <ac:chgData name="Sahu, Ajit Ranjan" userId="c3eb4cac-a7dd-4914-a958-2989a9f8b92f" providerId="ADAL" clId="{F06A9C37-2D74-45CB-B54D-6D5A277E31EA}" dt="2026-09-01T23:29:21.484" v="801" actId="1076"/>
          <ac:spMkLst>
            <pc:docMk/>
            <pc:sldMk cId="4221270114" sldId="6021"/>
            <ac:spMk id="6" creationId="{CAF316A1-4954-7FBC-5CA4-5773D2C0C7FB}"/>
          </ac:spMkLst>
        </pc:spChg>
      </pc:sldChg>
      <pc:sldChg chg="modSp mod">
        <pc:chgData name="Sahu, Ajit Ranjan" userId="c3eb4cac-a7dd-4914-a958-2989a9f8b92f" providerId="ADAL" clId="{F06A9C37-2D74-45CB-B54D-6D5A277E31EA}" dt="2026-09-01T23:32:28.505" v="860" actId="12"/>
        <pc:sldMkLst>
          <pc:docMk/>
          <pc:sldMk cId="1577124127" sldId="6022"/>
        </pc:sldMkLst>
        <pc:spChg chg="mod">
          <ac:chgData name="Sahu, Ajit Ranjan" userId="c3eb4cac-a7dd-4914-a958-2989a9f8b92f" providerId="ADAL" clId="{F06A9C37-2D74-45CB-B54D-6D5A277E31EA}" dt="2026-09-01T23:32:28.505" v="860" actId="12"/>
          <ac:spMkLst>
            <pc:docMk/>
            <pc:sldMk cId="1577124127" sldId="6022"/>
            <ac:spMk id="2" creationId="{2EF1D7A0-AFF3-A706-7D58-EF7791E66657}"/>
          </ac:spMkLst>
        </pc:spChg>
        <pc:spChg chg="mod">
          <ac:chgData name="Sahu, Ajit Ranjan" userId="c3eb4cac-a7dd-4914-a958-2989a9f8b92f" providerId="ADAL" clId="{F06A9C37-2D74-45CB-B54D-6D5A277E31EA}" dt="2026-09-01T23:32:00.471" v="855" actId="113"/>
          <ac:spMkLst>
            <pc:docMk/>
            <pc:sldMk cId="1577124127" sldId="6022"/>
            <ac:spMk id="6" creationId="{5CDCA1B5-88E3-864E-7D28-D7ABEAD3CF82}"/>
          </ac:spMkLst>
        </pc:spChg>
      </pc:sldChg>
      <pc:sldChg chg="modSp mod">
        <pc:chgData name="Sahu, Ajit Ranjan" userId="c3eb4cac-a7dd-4914-a958-2989a9f8b92f" providerId="ADAL" clId="{F06A9C37-2D74-45CB-B54D-6D5A277E31EA}" dt="2026-09-01T23:44:41.886" v="992" actId="20577"/>
        <pc:sldMkLst>
          <pc:docMk/>
          <pc:sldMk cId="4087044803" sldId="6023"/>
        </pc:sldMkLst>
        <pc:spChg chg="mod">
          <ac:chgData name="Sahu, Ajit Ranjan" userId="c3eb4cac-a7dd-4914-a958-2989a9f8b92f" providerId="ADAL" clId="{F06A9C37-2D74-45CB-B54D-6D5A277E31EA}" dt="2026-09-01T23:36:10.515" v="875" actId="1076"/>
          <ac:spMkLst>
            <pc:docMk/>
            <pc:sldMk cId="4087044803" sldId="6023"/>
            <ac:spMk id="2" creationId="{70112936-A224-6F51-D363-86DC6C153BEC}"/>
          </ac:spMkLst>
        </pc:spChg>
        <pc:graphicFrameChg chg="mod modGraphic">
          <ac:chgData name="Sahu, Ajit Ranjan" userId="c3eb4cac-a7dd-4914-a958-2989a9f8b92f" providerId="ADAL" clId="{F06A9C37-2D74-45CB-B54D-6D5A277E31EA}" dt="2026-09-01T23:44:41.886" v="992" actId="20577"/>
          <ac:graphicFrameMkLst>
            <pc:docMk/>
            <pc:sldMk cId="4087044803" sldId="6023"/>
            <ac:graphicFrameMk id="4" creationId="{05866B63-E9AA-4B54-332F-21C197BC2EB4}"/>
          </ac:graphicFrameMkLst>
        </pc:graphicFrameChg>
      </pc:sldChg>
      <pc:sldChg chg="modSp mod">
        <pc:chgData name="Sahu, Ajit Ranjan" userId="c3eb4cac-a7dd-4914-a958-2989a9f8b92f" providerId="ADAL" clId="{F06A9C37-2D74-45CB-B54D-6D5A277E31EA}" dt="2026-09-01T23:38:33.172" v="919" actId="113"/>
        <pc:sldMkLst>
          <pc:docMk/>
          <pc:sldMk cId="2702063485" sldId="6024"/>
        </pc:sldMkLst>
        <pc:spChg chg="mod">
          <ac:chgData name="Sahu, Ajit Ranjan" userId="c3eb4cac-a7dd-4914-a958-2989a9f8b92f" providerId="ADAL" clId="{F06A9C37-2D74-45CB-B54D-6D5A277E31EA}" dt="2026-09-01T23:38:33.172" v="919" actId="113"/>
          <ac:spMkLst>
            <pc:docMk/>
            <pc:sldMk cId="2702063485" sldId="6024"/>
            <ac:spMk id="6" creationId="{5DD04A74-BD15-3DD4-43FF-30279B8905E2}"/>
          </ac:spMkLst>
        </pc:spChg>
      </pc:sldChg>
      <pc:sldChg chg="addSp delSp modSp mod">
        <pc:chgData name="Sahu, Ajit Ranjan" userId="c3eb4cac-a7dd-4914-a958-2989a9f8b92f" providerId="ADAL" clId="{F06A9C37-2D74-45CB-B54D-6D5A277E31EA}" dt="2026-09-02T15:59:37.032" v="999" actId="14100"/>
        <pc:sldMkLst>
          <pc:docMk/>
          <pc:sldMk cId="4100417498" sldId="6026"/>
        </pc:sldMkLst>
        <pc:picChg chg="add del mod">
          <ac:chgData name="Sahu, Ajit Ranjan" userId="c3eb4cac-a7dd-4914-a958-2989a9f8b92f" providerId="ADAL" clId="{F06A9C37-2D74-45CB-B54D-6D5A277E31EA}" dt="2026-09-02T15:59:21.876" v="993" actId="478"/>
          <ac:picMkLst>
            <pc:docMk/>
            <pc:sldMk cId="4100417498" sldId="6026"/>
            <ac:picMk id="3" creationId="{61D2758D-110D-B66D-94B0-833F484287AD}"/>
          </ac:picMkLst>
        </pc:picChg>
        <pc:picChg chg="add mod">
          <ac:chgData name="Sahu, Ajit Ranjan" userId="c3eb4cac-a7dd-4914-a958-2989a9f8b92f" providerId="ADAL" clId="{F06A9C37-2D74-45CB-B54D-6D5A277E31EA}" dt="2026-09-02T15:59:37.032" v="999" actId="14100"/>
          <ac:picMkLst>
            <pc:docMk/>
            <pc:sldMk cId="4100417498" sldId="6026"/>
            <ac:picMk id="4" creationId="{6DBAC0C1-8610-443C-99F6-DC5A29D3540D}"/>
          </ac:picMkLst>
        </pc:picChg>
        <pc:picChg chg="del">
          <ac:chgData name="Sahu, Ajit Ranjan" userId="c3eb4cac-a7dd-4914-a958-2989a9f8b92f" providerId="ADAL" clId="{F06A9C37-2D74-45CB-B54D-6D5A277E31EA}" dt="2026-09-01T23:36:52.690" v="906" actId="478"/>
          <ac:picMkLst>
            <pc:docMk/>
            <pc:sldMk cId="4100417498" sldId="6026"/>
            <ac:picMk id="6" creationId="{2ED1458B-536A-51C8-D8F6-CC5B0BEC2B24}"/>
          </ac:picMkLst>
        </pc:picChg>
      </pc:sldChg>
      <pc:sldChg chg="del">
        <pc:chgData name="Sahu, Ajit Ranjan" userId="c3eb4cac-a7dd-4914-a958-2989a9f8b92f" providerId="ADAL" clId="{F06A9C37-2D74-45CB-B54D-6D5A277E31EA}" dt="2026-09-01T23:36:55.549" v="907" actId="47"/>
        <pc:sldMkLst>
          <pc:docMk/>
          <pc:sldMk cId="125816351" sldId="6029"/>
        </pc:sldMkLst>
      </pc:sldChg>
      <pc:sldChg chg="modSp mod">
        <pc:chgData name="Sahu, Ajit Ranjan" userId="c3eb4cac-a7dd-4914-a958-2989a9f8b92f" providerId="ADAL" clId="{F06A9C37-2D74-45CB-B54D-6D5A277E31EA}" dt="2026-09-01T23:40:53.509" v="925" actId="14100"/>
        <pc:sldMkLst>
          <pc:docMk/>
          <pc:sldMk cId="1514834295" sldId="6030"/>
        </pc:sldMkLst>
        <pc:spChg chg="mod">
          <ac:chgData name="Sahu, Ajit Ranjan" userId="c3eb4cac-a7dd-4914-a958-2989a9f8b92f" providerId="ADAL" clId="{F06A9C37-2D74-45CB-B54D-6D5A277E31EA}" dt="2026-09-01T23:40:53.509" v="925" actId="14100"/>
          <ac:spMkLst>
            <pc:docMk/>
            <pc:sldMk cId="1514834295" sldId="6030"/>
            <ac:spMk id="2" creationId="{4BFBE08F-45D1-62E3-9DB2-FAEE48CC97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8CBC0-4F16-452F-BE30-2DD295E3775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7FC3B-8E78-43E8-BC2C-D6C0DE82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6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FC3B-8E78-43E8-BC2C-D6C0DE826B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6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29"/>
            <a:ext cx="11402568" cy="467951"/>
          </a:xfrm>
          <a:prstGeom prst="rect">
            <a:avLst/>
          </a:prstGeom>
        </p:spPr>
      </p:pic>
      <p:sp>
        <p:nvSpPr>
          <p:cNvPr id="31" name="Text Placeholder 19"/>
          <p:cNvSpPr txBox="1">
            <a:spLocks/>
          </p:cNvSpPr>
          <p:nvPr userDrawn="1"/>
        </p:nvSpPr>
        <p:spPr>
          <a:xfrm>
            <a:off x="180220" y="6314205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chemeClr val="tx2"/>
                </a:solidFill>
              </a:rPr>
              <a:t>Liberty Mutual Insurance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5999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053266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9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jit5144.github.io/Evergreen_Capstone_Phase_2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E718-87DF-4BA8-8071-FB37CA6CE3C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79105" y="1328987"/>
            <a:ext cx="11275828" cy="21000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Evergreen Insurance – Quoting Platform</a:t>
            </a:r>
            <a:br>
              <a:rPr lang="en-US" dirty="0"/>
            </a:br>
            <a:r>
              <a:rPr lang="en-US" dirty="0"/>
              <a:t>Delivery Review &amp; Stakeholder Demo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954F8-A19C-48B5-AF6D-05938204FBC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6620" y="5110702"/>
            <a:ext cx="11036990" cy="409408"/>
          </a:xfrm>
          <a:prstGeom prst="rect">
            <a:avLst/>
          </a:prstGeom>
        </p:spPr>
        <p:txBody>
          <a:bodyPr/>
          <a:lstStyle/>
          <a:p>
            <a:fld id="{C34DA598-252B-4D27-B905-1AF3BEDFBF7E}" type="datetime2">
              <a:rPr lang="en-US" smtClean="0"/>
              <a:t>Wednesday, September 2, 2026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9F5652D-F955-A49F-49AC-743ABF078A8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76619" y="4713041"/>
            <a:ext cx="11036991" cy="39766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Presented by: Ajit Ranjan Sahu</a:t>
            </a:r>
          </a:p>
        </p:txBody>
      </p:sp>
    </p:spTree>
    <p:extLst>
      <p:ext uri="{BB962C8B-B14F-4D97-AF65-F5344CB8AC3E}">
        <p14:creationId xmlns:p14="http://schemas.microsoft.com/office/powerpoint/2010/main" val="387179850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9A37A-1672-1F8F-4C82-299FA9BA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05F59D0-B306-584E-04E6-58D3C8F9267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47873" y="2219360"/>
            <a:ext cx="11036991" cy="171256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Goals:</a:t>
            </a:r>
          </a:p>
          <a:p>
            <a:pPr lvl="0" fontAlgn="auto"/>
            <a:r>
              <a:rPr lang="en-US" sz="1600" dirty="0"/>
              <a:t>Deliver a production-ready Phase 2 Evergreen Quote experience</a:t>
            </a:r>
          </a:p>
          <a:p>
            <a:pPr lvl="0" fontAlgn="auto"/>
            <a:r>
              <a:rPr lang="en-US" sz="1600" dirty="0"/>
              <a:t>Give first-time insurance shoppers a fast, low-commitment estimate</a:t>
            </a:r>
          </a:p>
          <a:p>
            <a:pPr lvl="0" fontAlgn="auto"/>
            <a:r>
              <a:rPr lang="en-US" sz="1600" dirty="0"/>
              <a:t>Show the premium live as the user types</a:t>
            </a:r>
          </a:p>
          <a:p>
            <a:pPr lvl="0" fontAlgn="auto"/>
            <a:r>
              <a:rPr lang="en-US" sz="1600" dirty="0"/>
              <a:t>Finish with green type-check, build, and 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534A1-D3FB-E939-E01F-698067BA3E05}"/>
              </a:ext>
            </a:extLst>
          </p:cNvPr>
          <p:cNvSpPr txBox="1"/>
          <p:nvPr/>
        </p:nvSpPr>
        <p:spPr>
          <a:xfrm>
            <a:off x="9914382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For Internal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E631273-8DBA-DC19-9CE1-92551BCA5E3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5" y="1338425"/>
            <a:ext cx="11036990" cy="6732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Delivery Goals and Outcomes</a:t>
            </a:r>
          </a:p>
        </p:txBody>
      </p:sp>
      <p:sp>
        <p:nvSpPr>
          <p:cNvPr id="11" name="Subtitle 5">
            <a:extLst>
              <a:ext uri="{FF2B5EF4-FFF2-40B4-BE49-F238E27FC236}">
                <a16:creationId xmlns:a16="http://schemas.microsoft.com/office/drawing/2014/main" id="{76E3BEC6-FAF2-28F8-5A94-58D11633FD43}"/>
              </a:ext>
            </a:extLst>
          </p:cNvPr>
          <p:cNvSpPr txBox="1">
            <a:spLocks/>
          </p:cNvSpPr>
          <p:nvPr/>
        </p:nvSpPr>
        <p:spPr>
          <a:xfrm>
            <a:off x="447873" y="4011583"/>
            <a:ext cx="11166622" cy="23858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Outcomes: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Shoppers can select auto, home, or life coverage and see the premium update instantly , with no Calculate button.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The experience stays fast, simple, and low-commitment for first-time shoppers comparing options on mobile.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The Recent Quotes panel loads from the data feed and shows clear loading, error, and success states.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Stakeholders can verify that the estimates are credible and aligned with the sponsor’s placeholder rate decision.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The solution is production-ready, with </a:t>
            </a:r>
            <a:r>
              <a:rPr lang="en-US" sz="1600" dirty="0" err="1"/>
              <a:t>npm</a:t>
            </a:r>
            <a:r>
              <a:rPr lang="en-US" sz="1600" dirty="0"/>
              <a:t> run type-check, </a:t>
            </a:r>
            <a:r>
              <a:rPr lang="en-US" sz="1600" dirty="0" err="1"/>
              <a:t>npm</a:t>
            </a:r>
            <a:r>
              <a:rPr lang="en-US" sz="1600" dirty="0"/>
              <a:t> run build, and CI on master all passing</a:t>
            </a:r>
            <a:endParaRPr lang="en-US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31481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D7A1-D131-11BE-9984-46CFDD30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CAF316A1-4954-7FBC-5CA4-5773D2C0C7F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77504" y="1892808"/>
            <a:ext cx="11036991" cy="433357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Shipping with MVP: </a:t>
            </a:r>
          </a:p>
          <a:p>
            <a:pPr lvl="0" fontAlgn="auto"/>
            <a:r>
              <a:rPr lang="en-US" sz="1600" dirty="0"/>
              <a:t>A fast, mobile-friendly quote experience for auto, home, and life</a:t>
            </a:r>
          </a:p>
          <a:p>
            <a:pPr lvl="0" fontAlgn="auto"/>
            <a:r>
              <a:rPr lang="en-US" sz="1600" dirty="0"/>
              <a:t>A live premium estimate that updates instantly as the shopper types</a:t>
            </a:r>
          </a:p>
          <a:p>
            <a:pPr lvl="0" fontAlgn="auto"/>
            <a:r>
              <a:rPr lang="en-US" sz="1600" dirty="0"/>
              <a:t>A Recent Quotes view with clear loading and error handling</a:t>
            </a:r>
          </a:p>
          <a:p>
            <a:pPr lvl="0" fontAlgn="auto"/>
            <a:r>
              <a:rPr lang="en-US" sz="1600" dirty="0"/>
              <a:t>A simple, low-commitment experience designed for first-time shoppers</a:t>
            </a:r>
          </a:p>
          <a:p>
            <a:pPr lvl="0" fontAlgn="auto"/>
            <a:r>
              <a:rPr lang="en-US" sz="1600" dirty="0"/>
              <a:t>A stable release backed by green type-check, build, and CI</a:t>
            </a:r>
          </a:p>
          <a:p>
            <a:pPr marL="0" indent="0">
              <a:buNone/>
            </a:pPr>
            <a:r>
              <a:rPr lang="en-US" sz="1600" b="1" dirty="0"/>
              <a:t>Deferred features:</a:t>
            </a:r>
          </a:p>
          <a:p>
            <a:pPr lvl="0" fontAlgn="auto"/>
            <a:r>
              <a:rPr lang="en-US" sz="1600" dirty="0"/>
              <a:t>Real backend pricing and actuarial rate logic</a:t>
            </a:r>
          </a:p>
          <a:p>
            <a:pPr lvl="0" fontAlgn="auto"/>
            <a:r>
              <a:rPr lang="en-US" sz="1600" dirty="0"/>
              <a:t>Accounts, saved quotes across visits, and purchase flow</a:t>
            </a:r>
          </a:p>
          <a:p>
            <a:pPr lvl="0" fontAlgn="auto"/>
            <a:r>
              <a:rPr lang="en-US" sz="1600" dirty="0"/>
              <a:t>Broader site navigation and additional features beyond the core quote experience</a:t>
            </a:r>
          </a:p>
          <a:p>
            <a:pPr marL="0" indent="0" fontAlgn="t">
              <a:buNone/>
            </a:pPr>
            <a:r>
              <a:rPr lang="en-US" sz="1800" b="1" dirty="0"/>
              <a:t>Demo URL:</a:t>
            </a:r>
          </a:p>
          <a:p>
            <a:pPr fontAlgn="t"/>
            <a:r>
              <a:rPr lang="en-US" sz="1400" dirty="0">
                <a:hlinkClick r:id="rId2"/>
              </a:rPr>
              <a:t>https://ajit5144.github.io/Evergreen_Capstone_Phase_2/</a:t>
            </a:r>
            <a:r>
              <a:rPr lang="en-US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0BDE5-9211-A802-2F6E-0CABBFD4B001}"/>
              </a:ext>
            </a:extLst>
          </p:cNvPr>
          <p:cNvSpPr txBox="1"/>
          <p:nvPr/>
        </p:nvSpPr>
        <p:spPr>
          <a:xfrm>
            <a:off x="9760548" y="6379111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4BEB2EC-423F-D60E-C809-D05646EC5F0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4" y="1271016"/>
            <a:ext cx="11036990" cy="7204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What is Shipping</a:t>
            </a:r>
          </a:p>
        </p:txBody>
      </p:sp>
    </p:spTree>
    <p:extLst>
      <p:ext uri="{BB962C8B-B14F-4D97-AF65-F5344CB8AC3E}">
        <p14:creationId xmlns:p14="http://schemas.microsoft.com/office/powerpoint/2010/main" val="42212701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554E-FDAA-3C0E-87DF-90E0DA27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CDCA1B5-88E3-864E-7D28-D7ABEAD3CF8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12687" y="2025396"/>
            <a:ext cx="11190825" cy="18653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Zip code field request:</a:t>
            </a:r>
          </a:p>
          <a:p>
            <a:pPr lvl="0" fontAlgn="auto"/>
            <a:r>
              <a:rPr lang="en-US" sz="1600" dirty="0"/>
              <a:t>Marketing requested a ZIP-code field for regional pricing, but adding it would have required updates beyond the UI, including pricing logic, validation, shared types, and review.</a:t>
            </a:r>
          </a:p>
          <a:p>
            <a:pPr lvl="0" fontAlgn="auto"/>
            <a:r>
              <a:rPr lang="en-US" sz="1600" dirty="0"/>
              <a:t>The team chose not to take on that change in the current delivery window in order to protect the committed scope and avoid destabilizing the core quote flow.</a:t>
            </a:r>
          </a:p>
          <a:p>
            <a:pPr lvl="0" fontAlgn="auto"/>
            <a:r>
              <a:rPr lang="en-US" sz="1600" dirty="0"/>
              <a:t>The decision kept focus on shipping the live estimate experience, recent quotes, and a green type-check/build/CI path.</a:t>
            </a:r>
          </a:p>
          <a:p>
            <a:pPr marL="457200" indent="-457200" fontAlgn="auto">
              <a:buFont typeface="Arial" panose="020B0604020202020204" pitchFamily="34" charset="0"/>
              <a:buChar char="•"/>
            </a:pPr>
            <a:endParaRPr lang="en-US" sz="1600" dirty="0"/>
          </a:p>
          <a:p>
            <a:pPr fontAlgn="auto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421D8-3088-B39D-612A-B78C91ABB668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55A41B5-11AB-208A-9BF4-337822DD5CB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3" y="1207014"/>
            <a:ext cx="11036990" cy="64007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sz="4000" dirty="0"/>
              <a:t>Key Delivery Decisions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EF1D7A0-AFF3-A706-7D58-EF7791E66657}"/>
              </a:ext>
            </a:extLst>
          </p:cNvPr>
          <p:cNvSpPr txBox="1">
            <a:spLocks/>
          </p:cNvSpPr>
          <p:nvPr/>
        </p:nvSpPr>
        <p:spPr>
          <a:xfrm>
            <a:off x="447871" y="3890771"/>
            <a:ext cx="11320455" cy="21122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Premium Discrepancy Incident: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A customer-facing premium issue was reported at the same time a recent hotfix left master red in CI, creating uncertainty about whether the two issues were related.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Even though the delivery branch could be healthy, the team chose not to merge into a broken master while there was still an unresolved pricing concern.</a:t>
            </a:r>
          </a:p>
          <a:p>
            <a:pPr marL="285750" lvl="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The decision was to hold merge until engineering confirmed the root cause, resolved the premium issue as needed, and restored master to a green CI state.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71241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25962-07D0-FB77-84D5-72583468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26855A7-F134-9D22-599D-55EEDABFE987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91CB06-7E81-E2D2-B5D7-78A0381C801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5" y="1335024"/>
            <a:ext cx="11036990" cy="83933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Risks and Injects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70112936-A224-6F51-D363-86DC6C153BEC}"/>
              </a:ext>
            </a:extLst>
          </p:cNvPr>
          <p:cNvSpPr txBox="1">
            <a:spLocks/>
          </p:cNvSpPr>
          <p:nvPr/>
        </p:nvSpPr>
        <p:spPr>
          <a:xfrm>
            <a:off x="577505" y="3872984"/>
            <a:ext cx="11154248" cy="24232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Injects:</a:t>
            </a:r>
          </a:p>
          <a:p>
            <a:pPr lvl="0" fontAlgn="auto"/>
            <a:r>
              <a:rPr lang="en-US" sz="1600" u="sng" dirty="0"/>
              <a:t>Inject 1: </a:t>
            </a:r>
            <a:r>
              <a:rPr lang="en-US" sz="1600" dirty="0"/>
              <a:t>Deferred the ZIP-code field request and stayed on the current toolchain to protect the committed delivery scope, timeline, and green build.</a:t>
            </a:r>
          </a:p>
          <a:p>
            <a:pPr lvl="0" fontAlgn="auto"/>
            <a:r>
              <a:rPr lang="en-US" sz="1600" b="1" u="sng" dirty="0"/>
              <a:t>Inject 2:</a:t>
            </a:r>
            <a:r>
              <a:rPr lang="en-US" sz="1600" u="sng" dirty="0"/>
              <a:t> </a:t>
            </a:r>
            <a:r>
              <a:rPr lang="en-US" sz="1600" dirty="0"/>
              <a:t>Rejected the rushed rate hotfix path after it broke type-check in CI, and chose to protect delivery stability over immediate change.</a:t>
            </a:r>
          </a:p>
          <a:p>
            <a:pPr lvl="0" fontAlgn="auto"/>
            <a:r>
              <a:rPr lang="en-US" sz="1600" b="1" u="sng" dirty="0"/>
              <a:t>Inject 3:</a:t>
            </a:r>
            <a:r>
              <a:rPr lang="en-US" sz="1600" u="sng" dirty="0"/>
              <a:t> </a:t>
            </a:r>
            <a:r>
              <a:rPr lang="en-US" sz="1600" dirty="0"/>
              <a:t>Made a </a:t>
            </a:r>
            <a:r>
              <a:rPr lang="en-US" sz="1600" b="1" dirty="0"/>
              <a:t>NO-GO</a:t>
            </a:r>
            <a:r>
              <a:rPr lang="en-US" sz="1600" dirty="0"/>
              <a:t> merge call when a customer-facing premium discrepancy appeared while master was red, pending root-cause confirmation and CI recovery.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All updates and supporting details have been captured in the project board for reference.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66B63-E9AA-4B54-332F-21C197BC2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77680"/>
              </p:ext>
            </p:extLst>
          </p:nvPr>
        </p:nvGraphicFramePr>
        <p:xfrm>
          <a:off x="682752" y="2307872"/>
          <a:ext cx="10515600" cy="1569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248933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474453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37078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9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automated tests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Add Smoke Tests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8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testing not completed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Scan before Prod deploy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2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Unavailable website links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 link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release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918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0448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0498-3B52-DFB7-9919-53AD7614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DD04A74-BD15-3DD4-43FF-30279B8905E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77506" y="2651045"/>
            <a:ext cx="11036991" cy="2542747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en-US" sz="1600" dirty="0"/>
              <a:t>Lock down the pricing/config path earlier so sponsor rate changes do not arrive late and create avoidable churn in premium logic and validation.</a:t>
            </a:r>
          </a:p>
          <a:p>
            <a:pPr lvl="0" fontAlgn="auto"/>
            <a:r>
              <a:rPr lang="en-US" sz="1600" dirty="0"/>
              <a:t>Set up deployment-path checks sooner by validating GitHub Pages, Vite base path, and data-feed URLs earlier instead of discovering environment-specific issues after local success.</a:t>
            </a:r>
          </a:p>
          <a:p>
            <a:pPr lvl="0" fontAlgn="auto"/>
            <a:r>
              <a:rPr lang="en-US" sz="1600" dirty="0"/>
              <a:t>Add lightweight automated smoke tests for the core quote flow so regressions in live updates, save quote, and recent quotes are caught before manual review.</a:t>
            </a:r>
          </a:p>
          <a:p>
            <a:pPr lvl="0" fontAlgn="auto"/>
            <a:r>
              <a:rPr lang="en-US" sz="1600" dirty="0"/>
              <a:t>Create a clearer change-control path for late requests and hotfixes so items like ZIP-code additions or direct rate changes do not put the delivery branch and merge timeline at risk.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421B0-E5E8-25C2-5A52-0CADD63E1FB7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5FD3B69-A848-4957-6785-62B2F2FFDF5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6" y="1298448"/>
            <a:ext cx="11036990" cy="83018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What I’d do differently next time</a:t>
            </a:r>
          </a:p>
        </p:txBody>
      </p:sp>
    </p:spTree>
    <p:extLst>
      <p:ext uri="{BB962C8B-B14F-4D97-AF65-F5344CB8AC3E}">
        <p14:creationId xmlns:p14="http://schemas.microsoft.com/office/powerpoint/2010/main" val="27020634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D162-FC6E-A479-5568-07C88019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2A3E0D-68B9-076C-C2E7-316D669E2090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187E123-6EEE-2BB3-9CD6-477310993F3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88985" y="1204160"/>
            <a:ext cx="11036990" cy="6732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200" dirty="0"/>
              <a:t>Sample 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AC0C1-8610-443C-99F6-DC5A29D35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455" y="1722358"/>
            <a:ext cx="8362098" cy="428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1749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2F50-237A-7F81-E069-C70A4FA6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A0999C-66D5-39E7-95A6-1CD3991B60E6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20B018-A1BF-C4D8-48DD-536124685EE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58049" y="1528964"/>
            <a:ext cx="11036990" cy="74789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Key Takeaways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4BFBE08F-45D1-62E3-9DB2-FAEE48CC97B2}"/>
              </a:ext>
            </a:extLst>
          </p:cNvPr>
          <p:cNvSpPr txBox="1">
            <a:spLocks/>
          </p:cNvSpPr>
          <p:nvPr/>
        </p:nvSpPr>
        <p:spPr>
          <a:xfrm>
            <a:off x="358049" y="2680990"/>
            <a:ext cx="11036991" cy="2467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auto"/>
            <a:r>
              <a:rPr lang="en-US" sz="1600" dirty="0"/>
              <a:t>Core Quote Experience Delivered</a:t>
            </a:r>
          </a:p>
          <a:p>
            <a:pPr lvl="0" fontAlgn="auto"/>
            <a:r>
              <a:rPr lang="en-US" sz="1600" dirty="0"/>
              <a:t>Fast, Low-Commitment Shopper Journey Enabled</a:t>
            </a:r>
          </a:p>
          <a:p>
            <a:pPr lvl="0" fontAlgn="auto"/>
            <a:r>
              <a:rPr lang="en-US" sz="1600" dirty="0"/>
              <a:t>Recent Quotes Experience Added for Customer Confidence</a:t>
            </a:r>
          </a:p>
          <a:p>
            <a:pPr lvl="0" fontAlgn="auto"/>
            <a:r>
              <a:rPr lang="en-US" sz="1600" dirty="0"/>
              <a:t>Stable Release Delivered with Green Build and CI</a:t>
            </a:r>
          </a:p>
          <a:p>
            <a:pPr lvl="0" fontAlgn="auto"/>
            <a:r>
              <a:rPr lang="en-US" sz="1600" dirty="0"/>
              <a:t>Deployed and Ready for Stakeholder Review</a:t>
            </a:r>
          </a:p>
          <a:p>
            <a:pPr lvl="0" fontAlgn="auto"/>
            <a:r>
              <a:rPr lang="en-US" sz="1600" dirty="0"/>
              <a:t>Positioned for Next-Phase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51483429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3462-622A-8957-23E4-418D3509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5B9118-44DD-AE0D-0C5A-39C7D7F8CDBC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FB1E871-00A4-9430-3A07-ED752E4F001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87233" y="2681108"/>
            <a:ext cx="11036990" cy="74789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90012866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770</Words>
  <Application>Microsoft Office PowerPoint</Application>
  <PresentationFormat>Widescreen</PresentationFormat>
  <Paragraphs>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Segoe UI</vt:lpstr>
      <vt:lpstr>Office Theme</vt:lpstr>
      <vt:lpstr>Evergreen Insurance – Quoting Platform Delivery Review &amp; Stakeholder Demo</vt:lpstr>
      <vt:lpstr>Delivery Goals and Outcomes</vt:lpstr>
      <vt:lpstr>What is Shipping</vt:lpstr>
      <vt:lpstr>Key Delivery Decisions</vt:lpstr>
      <vt:lpstr>Risks and Injects</vt:lpstr>
      <vt:lpstr>What I’d do differently next time</vt:lpstr>
      <vt:lpstr>Sample Screenshot</vt:lpstr>
      <vt:lpstr>Key Takeaways</vt:lpstr>
      <vt:lpstr>Q&amp;A</vt:lpstr>
    </vt:vector>
  </TitlesOfParts>
  <Company>Liberty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Sahu, Ajit Ranjan</dc:creator>
  <cp:lastModifiedBy>Sahu, Ajit Ranjan</cp:lastModifiedBy>
  <cp:revision>1</cp:revision>
  <dcterms:created xsi:type="dcterms:W3CDTF">2026-07-15T22:05:57Z</dcterms:created>
  <dcterms:modified xsi:type="dcterms:W3CDTF">2026-09-02T15:59:38Z</dcterms:modified>
</cp:coreProperties>
</file>